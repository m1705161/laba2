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embeddedFontLst>
    <p:embeddedFont>
      <p:font typeface="Play" panose="020F0502020204030204" pitchFamily="3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2839702-0873-724A-9C57-94A014EC5DB5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Раздел без заголовка" id="{8CF8EAD4-9E53-BE41-88CD-5321E0D60D9F}">
          <p14:sldIdLst>
            <p14:sldId id="263"/>
          </p14:sldIdLst>
        </p14:section>
      </p14:section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m7LnjaVIA+q5J2pih5npNnNNS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200596-CB3D-462E-8C02-C356F2270C2C}">
  <a:tblStyle styleId="{5E200596-CB3D-462E-8C02-C356F2270C2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560cde4dd_1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g3f560cde4dd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560cde4dd_1_3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g3f560cde4dd_1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560cde4dd_1_4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g3f560cde4dd_1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560cde4dd_1_3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g3f560cde4dd_1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560cde4dd_1_4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g3f560cde4dd_1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7ecd7c785347988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h7ecd7c785347988e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h7ecd7c785347988e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accen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8"/>
          <p:cNvSpPr txBox="1">
            <a:spLocks noGrp="1"/>
          </p:cNvSpPr>
          <p:nvPr>
            <p:ph type="body" idx="1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8"/>
          <p:cNvSpPr txBox="1">
            <a:spLocks noGrp="1"/>
          </p:cNvSpPr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8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">
  <p:cSld name="1_Заголовок">
    <p:bg>
      <p:bgPr>
        <a:solidFill>
          <a:schemeClr val="lt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0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32580" y="692150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текст">
  <p:cSld name="Заголовок + текст">
    <p:bg>
      <p:bgPr>
        <a:solidFill>
          <a:schemeClr val="lt2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1"/>
          <p:cNvSpPr txBox="1">
            <a:spLocks noGrp="1"/>
          </p:cNvSpPr>
          <p:nvPr>
            <p:ph type="body" idx="1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1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Титульный слайд">
  <p:cSld name="3_Титульный слайд">
    <p:bg>
      <p:bgPr>
        <a:solidFill>
          <a:schemeClr val="accen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9"/>
          <p:cNvSpPr txBox="1">
            <a:spLocks noGrp="1"/>
          </p:cNvSpPr>
          <p:nvPr>
            <p:ph type="body" idx="1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79"/>
          <p:cNvSpPr txBox="1">
            <a:spLocks noGrp="1"/>
          </p:cNvSpPr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9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о спикером">
  <p:cSld name="Слайд со спикером">
    <p:bg>
      <p:bgPr>
        <a:solidFill>
          <a:schemeClr val="dk2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0"/>
          <p:cNvSpPr txBox="1">
            <a:spLocks noGrp="1"/>
          </p:cNvSpPr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0"/>
          <p:cNvSpPr txBox="1">
            <a:spLocks noGrp="1"/>
          </p:cNvSpPr>
          <p:nvPr>
            <p:ph type="body" idx="1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74" name="Google Shape;74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0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раздела">
  <p:cSld name="Титульный слайд раздела"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5"/>
          <p:cNvSpPr txBox="1">
            <a:spLocks noGrp="1"/>
          </p:cNvSpPr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Финальный с QR + подпись">
  <p:cSld name="4_Финальный с QR + подпись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6"/>
          <p:cNvSpPr txBox="1">
            <a:spLocks noGrp="1"/>
          </p:cNvSpPr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6"/>
          <p:cNvSpPr>
            <a:spLocks noGrp="1"/>
          </p:cNvSpPr>
          <p:nvPr>
            <p:ph type="pic" idx="2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86"/>
          <p:cNvSpPr txBox="1">
            <a:spLocks noGrp="1"/>
          </p:cNvSpPr>
          <p:nvPr>
            <p:ph type="body" idx="1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4" name="Google Shape;84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Финальный с QR + подпись">
  <p:cSld name="2_Финальный с QR + подпись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7"/>
          <p:cNvSpPr txBox="1">
            <a:spLocks noGrp="1"/>
          </p:cNvSpPr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87"/>
          <p:cNvSpPr>
            <a:spLocks noGrp="1"/>
          </p:cNvSpPr>
          <p:nvPr>
            <p:ph type="pic" idx="2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87"/>
          <p:cNvSpPr txBox="1">
            <a:spLocks noGrp="1"/>
          </p:cNvSpPr>
          <p:nvPr>
            <p:ph type="body" idx="1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0" name="Google Shape;90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lt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8"/>
          <p:cNvSpPr txBox="1">
            <a:spLocks noGrp="1"/>
          </p:cNvSpPr>
          <p:nvPr>
            <p:ph type="body" idx="1"/>
          </p:nvPr>
        </p:nvSpPr>
        <p:spPr>
          <a:xfrm>
            <a:off x="658813" y="4728128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88"/>
          <p:cNvSpPr txBox="1">
            <a:spLocks noGrp="1"/>
          </p:cNvSpPr>
          <p:nvPr>
            <p:ph type="title"/>
          </p:nvPr>
        </p:nvSpPr>
        <p:spPr>
          <a:xfrm>
            <a:off x="622261" y="2783175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88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Титульный слайд">
  <p:cSld name="4_Титульный слайд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9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9"/>
          <p:cNvSpPr txBox="1">
            <a:spLocks noGrp="1"/>
          </p:cNvSpPr>
          <p:nvPr>
            <p:ph type="body" idx="1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89"/>
          <p:cNvSpPr txBox="1">
            <a:spLocks noGrp="1"/>
          </p:cNvSpPr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3" name="Google Shape;103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 раздела">
  <p:cSld name="2_Титульный слайд раздела"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1"/>
          <p:cNvSpPr txBox="1">
            <a:spLocks noGrp="1"/>
          </p:cNvSpPr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6" name="Google Shape;106;p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в 2 строки + объект">
  <p:cSld name="Заголовок в 2 строки + объект">
    <p:bg>
      <p:bgPr>
        <a:solidFill>
          <a:schemeClr val="lt2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4"/>
          <p:cNvSpPr txBox="1">
            <a:spLocks noGrp="1"/>
          </p:cNvSpPr>
          <p:nvPr>
            <p:ph type="body" idx="1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94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9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bg>
      <p:bgPr>
        <a:solidFill>
          <a:schemeClr val="lt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5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5" name="Google Shape;115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фактоида + текст">
  <p:cSld name="2 фактоида + текст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6"/>
          <p:cNvSpPr txBox="1">
            <a:spLocks noGrp="1"/>
          </p:cNvSpPr>
          <p:nvPr>
            <p:ph type="body" idx="1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96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96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96"/>
          <p:cNvSpPr txBox="1">
            <a:spLocks noGrp="1"/>
          </p:cNvSpPr>
          <p:nvPr>
            <p:ph type="body" idx="2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96"/>
          <p:cNvSpPr txBox="1">
            <a:spLocks noGrp="1"/>
          </p:cNvSpPr>
          <p:nvPr>
            <p:ph type="body" idx="3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96"/>
          <p:cNvSpPr txBox="1">
            <a:spLocks noGrp="1"/>
          </p:cNvSpPr>
          <p:nvPr>
            <p:ph type="body" idx="4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96"/>
          <p:cNvSpPr txBox="1">
            <a:spLocks noGrp="1"/>
          </p:cNvSpPr>
          <p:nvPr>
            <p:ph type="body" idx="5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4" name="Google Shape;124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 без фото">
  <p:cSld name="Цитата без фото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7"/>
          <p:cNvSpPr txBox="1">
            <a:spLocks noGrp="1"/>
          </p:cNvSpPr>
          <p:nvPr>
            <p:ph type="body" idx="1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97"/>
          <p:cNvSpPr txBox="1">
            <a:spLocks noGrp="1"/>
          </p:cNvSpPr>
          <p:nvPr>
            <p:ph type="body" idx="2"/>
          </p:nvPr>
        </p:nvSpPr>
        <p:spPr>
          <a:xfrm>
            <a:off x="3359150" y="4646741"/>
            <a:ext cx="8200516" cy="318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97"/>
          <p:cNvSpPr txBox="1">
            <a:spLocks noGrp="1"/>
          </p:cNvSpPr>
          <p:nvPr>
            <p:ph type="body" idx="3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97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Arial"/>
              <a:buNone/>
            </a:pPr>
            <a:r>
              <a:rPr lang="ru-RU" sz="28800" b="1" i="0" u="none" strike="noStrike" cap="non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7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1" name="Google Shape;131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Заголовок + текст в две колонки">
  <p:cSld name="2_Заголовок + текст в две колонки">
    <p:bg>
      <p:bgPr>
        <a:solidFill>
          <a:schemeClr val="lt2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8"/>
          <p:cNvSpPr txBox="1">
            <a:spLocks noGrp="1"/>
          </p:cNvSpPr>
          <p:nvPr>
            <p:ph type="body" idx="1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98"/>
          <p:cNvSpPr txBox="1">
            <a:spLocks noGrp="1"/>
          </p:cNvSpPr>
          <p:nvPr>
            <p:ph type="body" idx="2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98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Мокап телефона ">
  <p:cSld name="Мокап телефона 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9"/>
          <p:cNvSpPr txBox="1">
            <a:spLocks noGrp="1"/>
          </p:cNvSpPr>
          <p:nvPr>
            <p:ph type="ftr" idx="11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" name="Google Shape;139;p99"/>
          <p:cNvSpPr txBox="1">
            <a:spLocks noGrp="1"/>
          </p:cNvSpPr>
          <p:nvPr>
            <p:ph type="body" idx="1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99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1" name="Google Shape;141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99"/>
          <p:cNvSpPr>
            <a:spLocks noGrp="1"/>
          </p:cNvSpPr>
          <p:nvPr>
            <p:ph type="pic" idx="2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43" name="Google Shape;143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скриншот (1)">
  <p:cSld name="Заголовок + скриншот (1)">
    <p:bg>
      <p:bgPr>
        <a:solidFill>
          <a:schemeClr val="lt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0"/>
          <p:cNvSpPr txBox="1">
            <a:spLocks noGrp="1"/>
          </p:cNvSpPr>
          <p:nvPr>
            <p:ph type="body" idx="1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00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00"/>
          <p:cNvSpPr txBox="1">
            <a:spLocks noGrp="1"/>
          </p:cNvSpPr>
          <p:nvPr>
            <p:ph type="body" idx="2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48" name="Google Shape;148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аттерн + фото">
  <p:cSld name="Паттерн + фото">
    <p:bg>
      <p:bgPr>
        <a:solidFill>
          <a:schemeClr val="lt2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1"/>
          <p:cNvSpPr txBox="1">
            <a:spLocks noGrp="1"/>
          </p:cNvSpPr>
          <p:nvPr>
            <p:ph type="body" idx="1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01"/>
          <p:cNvSpPr txBox="1">
            <a:spLocks noGrp="1"/>
          </p:cNvSpPr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2" name="Google Shape;152;p101"/>
          <p:cNvPicPr preferRelativeResize="0"/>
          <p:nvPr/>
        </p:nvPicPr>
        <p:blipFill rotWithShape="1">
          <a:blip r:embed="rId2">
            <a:alphaModFix/>
          </a:blip>
          <a:srcRect l="621" b="39"/>
          <a:stretch/>
        </p:blipFill>
        <p:spPr>
          <a:xfrm>
            <a:off x="5335631" y="0"/>
            <a:ext cx="6872200" cy="6855356"/>
          </a:xfrm>
          <a:custGeom>
            <a:avLst/>
            <a:gdLst/>
            <a:ahLst/>
            <a:cxnLst/>
            <a:rect l="l" t="t" r="r" b="b"/>
            <a:pathLst>
              <a:path w="6872200" h="6855356" extrusionOk="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53" name="Google Shape;153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Паттерн + фото">
  <p:cSld name="1_Паттерн + фото">
    <p:bg>
      <p:bgPr>
        <a:solidFill>
          <a:schemeClr val="lt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2"/>
          <p:cNvSpPr txBox="1">
            <a:spLocks noGrp="1"/>
          </p:cNvSpPr>
          <p:nvPr>
            <p:ph type="body" idx="1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02"/>
          <p:cNvSpPr txBox="1">
            <a:spLocks noGrp="1"/>
          </p:cNvSpPr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7" name="Google Shape;157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33139" y="0"/>
            <a:ext cx="6858000" cy="6858000"/>
          </a:xfrm>
          <a:custGeom>
            <a:avLst/>
            <a:gdLst/>
            <a:ahLst/>
            <a:cxnLst/>
            <a:rect l="l" t="t" r="r" b="b"/>
            <a:pathLst>
              <a:path w="6858000" h="6858000" extrusionOk="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58" name="Google Shape;158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ьный с QR + подпись">
  <p:cSld name="Финальный с QR + подпись">
    <p:bg>
      <p:bgPr>
        <a:solidFill>
          <a:schemeClr val="accen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03"/>
          <p:cNvSpPr txBox="1">
            <a:spLocks noGrp="1"/>
          </p:cNvSpPr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03"/>
          <p:cNvSpPr>
            <a:spLocks noGrp="1"/>
          </p:cNvSpPr>
          <p:nvPr>
            <p:ph type="pic" idx="2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103"/>
          <p:cNvSpPr txBox="1">
            <a:spLocks noGrp="1"/>
          </p:cNvSpPr>
          <p:nvPr>
            <p:ph type="body" idx="1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4" name="Google Shape;164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Финальный с QR + подпись">
  <p:cSld name="3_Финальный с QR + подпись">
    <p:bg>
      <p:bgPr>
        <a:solidFill>
          <a:schemeClr val="accen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4"/>
          <p:cNvSpPr txBox="1">
            <a:spLocks noGrp="1"/>
          </p:cNvSpPr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04"/>
          <p:cNvSpPr>
            <a:spLocks noGrp="1"/>
          </p:cNvSpPr>
          <p:nvPr>
            <p:ph type="pic" idx="2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104"/>
          <p:cNvSpPr txBox="1">
            <a:spLocks noGrp="1"/>
          </p:cNvSpPr>
          <p:nvPr>
            <p:ph type="body" idx="1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9" name="Google Shape;169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bg>
      <p:bgPr>
        <a:solidFill>
          <a:schemeClr val="dk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5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05"/>
          <p:cNvSpPr txBox="1">
            <a:spLocks noGrp="1"/>
          </p:cNvSpPr>
          <p:nvPr>
            <p:ph type="body" idx="1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4" name="Google Shape;174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 раздела">
  <p:cSld name="1_Титульный слайд раздела">
    <p:bg>
      <p:bgPr>
        <a:solidFill>
          <a:schemeClr val="dk2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2"/>
          <p:cNvSpPr txBox="1">
            <a:spLocks noGrp="1"/>
          </p:cNvSpPr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7" name="Google Shape;177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Титульный слайд раздела">
  <p:cSld name="3_Титульный слайд раздела">
    <p:bg>
      <p:bgPr>
        <a:solidFill>
          <a:schemeClr val="dk2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3"/>
          <p:cNvSpPr txBox="1">
            <a:spLocks noGrp="1"/>
          </p:cNvSpPr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1" name="Google Shape;181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814" y="5882757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объект">
  <p:cSld name="Заголовок + объект">
    <p:bg>
      <p:bgPr>
        <a:solidFill>
          <a:schemeClr val="lt2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6"/>
          <p:cNvSpPr txBox="1">
            <a:spLocks noGrp="1"/>
          </p:cNvSpPr>
          <p:nvPr>
            <p:ph type="body" idx="1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106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+ 2 объекта">
  <p:cSld name="Заголовок + 2 объекта">
    <p:bg>
      <p:bgPr>
        <a:solidFill>
          <a:schemeClr val="lt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7"/>
          <p:cNvSpPr txBox="1">
            <a:spLocks noGrp="1"/>
          </p:cNvSpPr>
          <p:nvPr>
            <p:ph type="body" idx="1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07"/>
          <p:cNvSpPr txBox="1">
            <a:spLocks noGrp="1"/>
          </p:cNvSpPr>
          <p:nvPr>
            <p:ph type="body" idx="2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10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1" name="Google Shape;191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ото">
  <p:cSld name="1 фото">
    <p:bg>
      <p:bgPr>
        <a:solidFill>
          <a:schemeClr val="lt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8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4" name="Google Shape;194;p108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08"/>
          <p:cNvSpPr txBox="1">
            <a:spLocks noGrp="1"/>
          </p:cNvSpPr>
          <p:nvPr>
            <p:ph type="body" idx="1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6" name="Google Shape;196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 фото">
  <p:cSld name="1_1 фото">
    <p:bg>
      <p:bgPr>
        <a:solidFill>
          <a:schemeClr val="lt2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9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9" name="Google Shape;199;p109"/>
          <p:cNvSpPr txBox="1">
            <a:spLocks noGrp="1"/>
          </p:cNvSpPr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09"/>
          <p:cNvSpPr txBox="1">
            <a:spLocks noGrp="1"/>
          </p:cNvSpPr>
          <p:nvPr>
            <p:ph type="body" idx="1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фото + подпись">
  <p:cSld name="1 фото + подпись">
    <p:bg>
      <p:bgPr>
        <a:solidFill>
          <a:schemeClr val="lt2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0"/>
          <p:cNvSpPr>
            <a:spLocks noGrp="1"/>
          </p:cNvSpPr>
          <p:nvPr>
            <p:ph type="pic" idx="2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03" name="Google Shape;203;p110"/>
          <p:cNvSpPr txBox="1">
            <a:spLocks noGrp="1"/>
          </p:cNvSpPr>
          <p:nvPr>
            <p:ph type="body" idx="1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110"/>
          <p:cNvSpPr txBox="1">
            <a:spLocks noGrp="1"/>
          </p:cNvSpPr>
          <p:nvPr>
            <p:ph type="body" idx="3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110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10"/>
          <p:cNvSpPr txBox="1">
            <a:spLocks noGrp="1"/>
          </p:cNvSpPr>
          <p:nvPr>
            <p:ph type="body" idx="4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marL="914400" lvl="1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marL="1371600" lvl="2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7" name="Google Shape;207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8813" y="5882758"/>
            <a:ext cx="1800608" cy="318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7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7"/>
          <p:cNvSpPr txBox="1">
            <a:spLocks noGrp="1"/>
          </p:cNvSpPr>
          <p:nvPr>
            <p:ph type="body" idx="1"/>
          </p:nvPr>
        </p:nvSpPr>
        <p:spPr>
          <a:xfrm>
            <a:off x="658813" y="1773238"/>
            <a:ext cx="10855852" cy="367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175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048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2" name="Google Shape;12;p77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77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14" name="Google Shape;14;p77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15" name="Google Shape;15;p77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16" name="Google Shape;16;p77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17" name="Google Shape;17;p77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18" name="Google Shape;18;p77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19" name="Google Shape;19;p77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0" name="Google Shape;20;p77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1" name="Google Shape;21;p77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2" name="Google Shape;22;p77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3" name="Google Shape;23;p77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4" name="Google Shape;24;p77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5" name="Google Shape;25;p77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6" name="Google Shape;26;p77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7" name="Google Shape;27;p77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8" name="Google Shape;28;p77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29" name="Google Shape;29;p77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0" name="Google Shape;30;p77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1" name="Google Shape;31;p77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</p:grpSp>
      <p:grpSp>
        <p:nvGrpSpPr>
          <p:cNvPr id="32" name="Google Shape;32;p77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77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4" name="Google Shape;34;p77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5" name="Google Shape;35;p77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6" name="Google Shape;36;p77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7" name="Google Shape;37;p77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8" name="Google Shape;38;p77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39" name="Google Shape;39;p77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40" name="Google Shape;40;p77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41" name="Google Shape;41;p77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42" name="Google Shape;42;p77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43" name="Google Shape;43;p77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44" name="Google Shape;44;p77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45" name="Google Shape;45;p77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46" name="Google Shape;46;p77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47" name="Google Shape;47;p77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48" name="Google Shape;48;p77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49" name="Google Shape;49;p77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50" name="Google Shape;50;p77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  <p:cxnSp>
          <p:nvCxnSpPr>
            <p:cNvPr id="51" name="Google Shape;51;p77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w="9525" cap="flat" cmpd="sng">
              <a:solidFill>
                <a:srgbClr val="3782BA"/>
              </a:solidFill>
              <a:prstDash val="solid"/>
              <a:miter lim="0"/>
              <a:headEnd type="none" w="sm" len="sm"/>
              <a:tailEnd type="none" w="sm" len="sm"/>
            </a:ln>
          </p:spPr>
        </p:cxn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"/>
          <p:cNvSpPr txBox="1">
            <a:spLocks noGrp="1"/>
          </p:cNvSpPr>
          <p:nvPr>
            <p:ph type="title"/>
          </p:nvPr>
        </p:nvSpPr>
        <p:spPr>
          <a:xfrm>
            <a:off x="658368" y="3864162"/>
            <a:ext cx="9144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2800" dirty="0">
                <a:solidFill>
                  <a:schemeClr val="tx1"/>
                </a:solidFill>
              </a:rPr>
              <a:t>Лаба 2. TPC-H: 22 запроса на Spark</a:t>
            </a:r>
            <a:endParaRPr sz="4800" dirty="0">
              <a:solidFill>
                <a:schemeClr val="tx1"/>
              </a:solidFill>
            </a:endParaRPr>
          </a:p>
        </p:txBody>
      </p:sp>
      <p:sp>
        <p:nvSpPr>
          <p:cNvPr id="213" name="Google Shape;213;p1"/>
          <p:cNvSpPr txBox="1"/>
          <p:nvPr/>
        </p:nvSpPr>
        <p:spPr>
          <a:xfrm>
            <a:off x="658368" y="44348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Лабораторная работа · 3 АкЧ · Л-826 · НИТУ МИСИС · Осень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560cde4dd_1_45"/>
          <p:cNvSpPr/>
          <p:nvPr/>
        </p:nvSpPr>
        <p:spPr>
          <a:xfrm>
            <a:off x="1651788" y="1449390"/>
            <a:ext cx="9881400" cy="9090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93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Стек: MinIO → Lakekeeper → Trino + Spark</a:t>
            </a:r>
            <a:endParaRPr sz="18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19" name="Google Shape;219;g3f560cde4dd_1_45"/>
          <p:cNvSpPr txBox="1">
            <a:spLocks noGrp="1"/>
          </p:cNvSpPr>
          <p:nvPr>
            <p:ph type="title"/>
          </p:nvPr>
        </p:nvSpPr>
        <p:spPr>
          <a:xfrm>
            <a:off x="658825" y="590475"/>
            <a:ext cx="84579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>
                <a:solidFill>
                  <a:schemeClr val="dk2"/>
                </a:solidFill>
              </a:rPr>
              <a:t>План занятия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0" name="Google Shape;220;g3f560cde4dd_1_45"/>
          <p:cNvSpPr/>
          <p:nvPr/>
        </p:nvSpPr>
        <p:spPr>
          <a:xfrm>
            <a:off x="658801" y="1470545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f560cde4dd_1_45"/>
          <p:cNvSpPr/>
          <p:nvPr/>
        </p:nvSpPr>
        <p:spPr>
          <a:xfrm>
            <a:off x="1651788" y="2454915"/>
            <a:ext cx="9881400" cy="9090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93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Стек и генерация данных TPC-H</a:t>
            </a:r>
            <a:endParaRPr sz="1800" b="0" i="0" u="none" strike="noStrike" cap="none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2" name="Google Shape;222;g3f560cde4dd_1_45"/>
          <p:cNvSpPr/>
          <p:nvPr/>
        </p:nvSpPr>
        <p:spPr>
          <a:xfrm>
            <a:off x="658801" y="2476070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560cde4dd_1_45"/>
          <p:cNvSpPr/>
          <p:nvPr/>
        </p:nvSpPr>
        <p:spPr>
          <a:xfrm>
            <a:off x="1651788" y="3481590"/>
            <a:ext cx="9881400" cy="9090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93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8 таблиц в Iceberg (sf5)</a:t>
            </a:r>
            <a:endParaRPr sz="18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4" name="Google Shape;224;g3f560cde4dd_1_45"/>
          <p:cNvSpPr/>
          <p:nvPr/>
        </p:nvSpPr>
        <p:spPr>
          <a:xfrm>
            <a:off x="658801" y="3502745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f560cde4dd_1_45"/>
          <p:cNvSpPr/>
          <p:nvPr/>
        </p:nvSpPr>
        <p:spPr>
          <a:xfrm>
            <a:off x="1651788" y="4508265"/>
            <a:ext cx="9881400" cy="9090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93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22 запроса на Spark</a:t>
            </a:r>
            <a:endParaRPr sz="1800" b="0" i="0" u="none" strike="noStrike" cap="none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6" name="Google Shape;226;g3f560cde4dd_1_45"/>
          <p:cNvSpPr/>
          <p:nvPr/>
        </p:nvSpPr>
        <p:spPr>
          <a:xfrm>
            <a:off x="658801" y="4529420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f560cde4dd_1_45"/>
          <p:cNvSpPr/>
          <p:nvPr/>
        </p:nvSpPr>
        <p:spPr>
          <a:xfrm>
            <a:off x="1651788" y="5513790"/>
            <a:ext cx="9881400" cy="9090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93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Прогон 1 </a:t>
            </a:r>
            <a:r>
              <a:rPr lang="ru-RU" sz="1800" b="0" i="0" u="none" strike="noStrike" cap="none" dirty="0" err="1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vs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10 потоков + анализ</a:t>
            </a:r>
            <a:endParaRPr sz="1800" b="0" i="0" u="none" strike="noStrike" cap="none" dirty="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8" name="Google Shape;228;g3f560cde4dd_1_45"/>
          <p:cNvSpPr/>
          <p:nvPr/>
        </p:nvSpPr>
        <p:spPr>
          <a:xfrm>
            <a:off x="658801" y="5534945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560cde4dd_1_391"/>
          <p:cNvSpPr txBox="1">
            <a:spLocks noGrp="1"/>
          </p:cNvSpPr>
          <p:nvPr>
            <p:ph type="body" idx="1"/>
          </p:nvPr>
        </p:nvSpPr>
        <p:spPr>
          <a:xfrm>
            <a:off x="671499" y="1950100"/>
            <a:ext cx="10269769" cy="102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ru-RU" sz="1600" dirty="0"/>
              <a:t>TPC-H — стандартный аналитический бенчмарк: 8 таблиц, 22 запроса, паттерны от лёгких фильтров до тяжёлых </a:t>
            </a:r>
            <a:r>
              <a:rPr lang="ru-RU" sz="1600" dirty="0" err="1"/>
              <a:t>джойнов</a:t>
            </a:r>
            <a:r>
              <a:rPr lang="ru-RU" sz="1600" dirty="0"/>
              <a:t> с подзапросами.</a:t>
            </a:r>
            <a:endParaRPr sz="18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</a:pPr>
            <a:r>
              <a:rPr lang="ru-RU" sz="1600" dirty="0"/>
              <a:t>Измеряем на Spark: один стенд, 22 запроса, меняется конкуренция (1 → 10 потоков), метрики — время запроса и суммарный </a:t>
            </a:r>
            <a:r>
              <a:rPr lang="ru-RU" sz="1600" dirty="0" err="1"/>
              <a:t>throughput</a:t>
            </a:r>
            <a:r>
              <a:rPr lang="ru-RU" sz="1600" dirty="0"/>
              <a:t>.</a:t>
            </a:r>
            <a:endParaRPr sz="1800" dirty="0"/>
          </a:p>
        </p:txBody>
      </p:sp>
      <p:sp>
        <p:nvSpPr>
          <p:cNvPr id="234" name="Google Shape;234;g3f560cde4dd_1_391"/>
          <p:cNvSpPr txBox="1">
            <a:spLocks noGrp="1"/>
          </p:cNvSpPr>
          <p:nvPr>
            <p:ph type="title"/>
          </p:nvPr>
        </p:nvSpPr>
        <p:spPr>
          <a:xfrm>
            <a:off x="671500" y="692150"/>
            <a:ext cx="5418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600"/>
              <a:t>Зачем бенчмарк TPC-H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560cde4dd_1_466"/>
          <p:cNvSpPr txBox="1">
            <a:spLocks noGrp="1"/>
          </p:cNvSpPr>
          <p:nvPr>
            <p:ph type="title"/>
          </p:nvPr>
        </p:nvSpPr>
        <p:spPr>
          <a:xfrm>
            <a:off x="677325" y="692150"/>
            <a:ext cx="85845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/>
              <a:t>Стенд лабораторной</a:t>
            </a:r>
            <a:endParaRPr/>
          </a:p>
        </p:txBody>
      </p:sp>
      <p:sp>
        <p:nvSpPr>
          <p:cNvPr id="240" name="Google Shape;240;g3f560cde4dd_1_466"/>
          <p:cNvSpPr txBox="1"/>
          <p:nvPr/>
        </p:nvSpPr>
        <p:spPr>
          <a:xfrm>
            <a:off x="658825" y="1365650"/>
            <a:ext cx="5418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8 таблиц TPC-H → Iceberg → 22 запроса × 10 потоков</a:t>
            </a:r>
            <a:endParaRPr sz="1800" b="0" i="0" u="none" strike="noStrike" cap="non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41" name="Google Shape;241;g3f560cde4dd_1_466"/>
          <p:cNvSpPr/>
          <p:nvPr/>
        </p:nvSpPr>
        <p:spPr>
          <a:xfrm>
            <a:off x="693913" y="3589332"/>
            <a:ext cx="2178600" cy="763200"/>
          </a:xfrm>
          <a:prstGeom prst="roundRect">
            <a:avLst>
              <a:gd name="adj" fmla="val 41103"/>
            </a:avLst>
          </a:prstGeom>
          <a:solidFill>
            <a:srgbClr val="2272FF"/>
          </a:solidFill>
          <a:ln w="137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2150" tIns="132150" rIns="132150" bIns="13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tpch</a:t>
            </a:r>
            <a:endParaRPr sz="202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генератор sf5 на лету</a:t>
            </a:r>
            <a:endParaRPr/>
          </a:p>
        </p:txBody>
      </p:sp>
      <p:cxnSp>
        <p:nvCxnSpPr>
          <p:cNvPr id="242" name="Google Shape;242;g3f560cde4dd_1_466"/>
          <p:cNvCxnSpPr/>
          <p:nvPr/>
        </p:nvCxnSpPr>
        <p:spPr>
          <a:xfrm rot="10800000" flipH="1">
            <a:off x="2872452" y="2857242"/>
            <a:ext cx="1899300" cy="1063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3" name="Google Shape;243;g3f560cde4dd_1_466"/>
          <p:cNvSpPr/>
          <p:nvPr/>
        </p:nvSpPr>
        <p:spPr>
          <a:xfrm>
            <a:off x="4771736" y="2432850"/>
            <a:ext cx="2178600" cy="763200"/>
          </a:xfrm>
          <a:prstGeom prst="roundRect">
            <a:avLst>
              <a:gd name="adj" fmla="val 41103"/>
            </a:avLst>
          </a:prstGeom>
          <a:solidFill>
            <a:srgbClr val="FFFFFF"/>
          </a:solidFill>
          <a:ln w="285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2150" tIns="132150" rIns="132150" bIns="13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MinIO</a:t>
            </a:r>
            <a:endParaRPr sz="202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объектное хранилище (S3)</a:t>
            </a:r>
            <a:endParaRPr/>
          </a:p>
        </p:txBody>
      </p:sp>
      <p:cxnSp>
        <p:nvCxnSpPr>
          <p:cNvPr id="244" name="Google Shape;244;g3f560cde4dd_1_466"/>
          <p:cNvCxnSpPr/>
          <p:nvPr/>
        </p:nvCxnSpPr>
        <p:spPr>
          <a:xfrm>
            <a:off x="3813385" y="3920442"/>
            <a:ext cx="993300" cy="0"/>
          </a:xfrm>
          <a:prstGeom prst="straightConnector1">
            <a:avLst/>
          </a:prstGeom>
          <a:noFill/>
          <a:ln w="285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5" name="Google Shape;245;g3f560cde4dd_1_466"/>
          <p:cNvSpPr/>
          <p:nvPr/>
        </p:nvSpPr>
        <p:spPr>
          <a:xfrm>
            <a:off x="4806824" y="3454799"/>
            <a:ext cx="2178600" cy="763200"/>
          </a:xfrm>
          <a:prstGeom prst="roundRect">
            <a:avLst>
              <a:gd name="adj" fmla="val 41103"/>
            </a:avLst>
          </a:prstGeom>
          <a:solidFill>
            <a:srgbClr val="FFFFFF"/>
          </a:solidFill>
          <a:ln w="285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2150" tIns="132150" rIns="132150" bIns="13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Lakekeeper</a:t>
            </a:r>
            <a:endParaRPr sz="202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каталог Iceberg REST</a:t>
            </a:r>
            <a:endParaRPr/>
          </a:p>
        </p:txBody>
      </p:sp>
      <p:cxnSp>
        <p:nvCxnSpPr>
          <p:cNvPr id="246" name="Google Shape;246;g3f560cde4dd_1_466"/>
          <p:cNvCxnSpPr/>
          <p:nvPr/>
        </p:nvCxnSpPr>
        <p:spPr>
          <a:xfrm>
            <a:off x="2846218" y="3920442"/>
            <a:ext cx="1951800" cy="10803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7" name="Google Shape;247;g3f560cde4dd_1_466"/>
          <p:cNvSpPr/>
          <p:nvPr/>
        </p:nvSpPr>
        <p:spPr>
          <a:xfrm>
            <a:off x="4806824" y="4476748"/>
            <a:ext cx="2178600" cy="763200"/>
          </a:xfrm>
          <a:prstGeom prst="roundRect">
            <a:avLst>
              <a:gd name="adj" fmla="val 41103"/>
            </a:avLst>
          </a:prstGeom>
          <a:solidFill>
            <a:srgbClr val="FFFFFF"/>
          </a:solidFill>
          <a:ln w="285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2150" tIns="132150" rIns="132150" bIns="13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Trino</a:t>
            </a:r>
            <a:endParaRPr sz="202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материализация 8 таблиц</a:t>
            </a:r>
            <a:endParaRPr/>
          </a:p>
        </p:txBody>
      </p:sp>
      <p:cxnSp>
        <p:nvCxnSpPr>
          <p:cNvPr id="248" name="Google Shape;248;g3f560cde4dd_1_466"/>
          <p:cNvCxnSpPr/>
          <p:nvPr/>
        </p:nvCxnSpPr>
        <p:spPr>
          <a:xfrm rot="10800000" flipH="1">
            <a:off x="7020451" y="2857242"/>
            <a:ext cx="1899300" cy="1063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9" name="Google Shape;249;g3f560cde4dd_1_466"/>
          <p:cNvSpPr/>
          <p:nvPr/>
        </p:nvSpPr>
        <p:spPr>
          <a:xfrm>
            <a:off x="8919735" y="2432850"/>
            <a:ext cx="2178600" cy="763200"/>
          </a:xfrm>
          <a:prstGeom prst="roundRect">
            <a:avLst>
              <a:gd name="adj" fmla="val 41103"/>
            </a:avLst>
          </a:prstGeom>
          <a:solidFill>
            <a:srgbClr val="FFFFFF"/>
          </a:solidFill>
          <a:ln w="285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2150" tIns="132150" rIns="132150" bIns="13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Spark</a:t>
            </a:r>
            <a:endParaRPr sz="202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 запроса, 10 потоков</a:t>
            </a:r>
            <a:endParaRPr/>
          </a:p>
        </p:txBody>
      </p:sp>
      <p:cxnSp>
        <p:nvCxnSpPr>
          <p:cNvPr id="250" name="Google Shape;250;g3f560cde4dd_1_466"/>
          <p:cNvCxnSpPr/>
          <p:nvPr/>
        </p:nvCxnSpPr>
        <p:spPr>
          <a:xfrm>
            <a:off x="7961384" y="3920442"/>
            <a:ext cx="993300" cy="0"/>
          </a:xfrm>
          <a:prstGeom prst="straightConnector1">
            <a:avLst/>
          </a:prstGeom>
          <a:noFill/>
          <a:ln w="285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" name="Google Shape;251;g3f560cde4dd_1_466"/>
          <p:cNvSpPr/>
          <p:nvPr/>
        </p:nvSpPr>
        <p:spPr>
          <a:xfrm>
            <a:off x="8954822" y="3454799"/>
            <a:ext cx="2178600" cy="763200"/>
          </a:xfrm>
          <a:prstGeom prst="roundRect">
            <a:avLst>
              <a:gd name="adj" fmla="val 41103"/>
            </a:avLst>
          </a:prstGeom>
          <a:solidFill>
            <a:srgbClr val="FFFFFF"/>
          </a:solidFill>
          <a:ln w="285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2150" tIns="132150" rIns="132150" bIns="13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время запроса</a:t>
            </a:r>
            <a:endParaRPr sz="202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метрика 1</a:t>
            </a:r>
            <a:endParaRPr/>
          </a:p>
        </p:txBody>
      </p:sp>
      <p:cxnSp>
        <p:nvCxnSpPr>
          <p:cNvPr id="252" name="Google Shape;252;g3f560cde4dd_1_466"/>
          <p:cNvCxnSpPr/>
          <p:nvPr/>
        </p:nvCxnSpPr>
        <p:spPr>
          <a:xfrm>
            <a:off x="6994216" y="3920442"/>
            <a:ext cx="1951800" cy="10803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3" name="Google Shape;253;g3f560cde4dd_1_466"/>
          <p:cNvSpPr/>
          <p:nvPr/>
        </p:nvSpPr>
        <p:spPr>
          <a:xfrm>
            <a:off x="8954822" y="4476748"/>
            <a:ext cx="2178600" cy="763200"/>
          </a:xfrm>
          <a:prstGeom prst="roundRect">
            <a:avLst>
              <a:gd name="adj" fmla="val 41103"/>
            </a:avLst>
          </a:prstGeom>
          <a:solidFill>
            <a:srgbClr val="FFFFFF"/>
          </a:solidFill>
          <a:ln w="28575" cap="flat" cmpd="sng">
            <a:solidFill>
              <a:srgbClr val="2272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2150" tIns="132150" rIns="132150" bIns="132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throughput</a:t>
            </a:r>
            <a:endParaRPr sz="202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метрика 2</a:t>
            </a:r>
            <a:endParaRPr/>
          </a:p>
        </p:txBody>
      </p:sp>
      <p:sp>
        <p:nvSpPr>
          <p:cNvPr id="254" name="Google Shape;254;g3f560cde4dd_1_466"/>
          <p:cNvSpPr txBox="1"/>
          <p:nvPr/>
        </p:nvSpPr>
        <p:spPr>
          <a:xfrm>
            <a:off x="658825" y="4687852"/>
            <a:ext cx="2178600" cy="13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150" tIns="132150" rIns="132150" bIns="1321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0" i="0" u="none" strike="noStrike" cap="none" dirty="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Меняется конкуренция (1 </a:t>
            </a:r>
            <a:r>
              <a:rPr lang="ru-RU" sz="1200" b="0" i="0" u="none" strike="noStrike" cap="none" dirty="0" err="1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vs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10 потоков), остальное фиксировано</a:t>
            </a:r>
            <a:endParaRPr sz="1824" b="0" i="0" u="none" strike="noStrike" cap="none" dirty="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" name="Google Shape;259;g3f560cde4dd_1_345"/>
          <p:cNvCxnSpPr/>
          <p:nvPr/>
        </p:nvCxnSpPr>
        <p:spPr>
          <a:xfrm rot="10800000">
            <a:off x="658800" y="2199500"/>
            <a:ext cx="115332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0"/>
            <a:headEnd type="none" w="sm" len="sm"/>
            <a:tailEnd type="none" w="sm" len="sm"/>
          </a:ln>
        </p:spPr>
      </p:cxnSp>
      <p:sp>
        <p:nvSpPr>
          <p:cNvPr id="260" name="Google Shape;260;g3f560cde4dd_1_345"/>
          <p:cNvSpPr txBox="1">
            <a:spLocks noGrp="1"/>
          </p:cNvSpPr>
          <p:nvPr>
            <p:ph type="title"/>
          </p:nvPr>
        </p:nvSpPr>
        <p:spPr>
          <a:xfrm>
            <a:off x="677325" y="692150"/>
            <a:ext cx="8584500" cy="5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/>
              <a:t>Как проходит занятие</a:t>
            </a:r>
            <a:endParaRPr/>
          </a:p>
        </p:txBody>
      </p:sp>
      <p:sp>
        <p:nvSpPr>
          <p:cNvPr id="261" name="Google Shape;261;g3f560cde4dd_1_345"/>
          <p:cNvSpPr txBox="1"/>
          <p:nvPr/>
        </p:nvSpPr>
        <p:spPr>
          <a:xfrm>
            <a:off x="2792150" y="2386744"/>
            <a:ext cx="274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Шаг 1</a:t>
            </a:r>
            <a:endParaRPr sz="24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2" name="Google Shape;262;g3f560cde4dd_1_345"/>
          <p:cNvSpPr/>
          <p:nvPr/>
        </p:nvSpPr>
        <p:spPr>
          <a:xfrm>
            <a:off x="4054107" y="2103103"/>
            <a:ext cx="219300" cy="21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f560cde4dd_1_345"/>
          <p:cNvSpPr/>
          <p:nvPr/>
        </p:nvSpPr>
        <p:spPr>
          <a:xfrm>
            <a:off x="7392265" y="2103103"/>
            <a:ext cx="219300" cy="21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f560cde4dd_1_345"/>
          <p:cNvSpPr/>
          <p:nvPr/>
        </p:nvSpPr>
        <p:spPr>
          <a:xfrm>
            <a:off x="2884400" y="3422994"/>
            <a:ext cx="2558700" cy="778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5" name="Google Shape;265;g3f560cde4dd_1_345"/>
          <p:cNvSpPr txBox="1"/>
          <p:nvPr/>
        </p:nvSpPr>
        <p:spPr>
          <a:xfrm>
            <a:off x="3014449" y="3529194"/>
            <a:ext cx="2298600" cy="5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Материализация 8 таблиц</a:t>
            </a:r>
            <a:endParaRPr sz="1800" b="0" i="0" u="none" strike="noStrike" cap="non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66" name="Google Shape;266;g3f560cde4dd_1_345"/>
          <p:cNvCxnSpPr>
            <a:stCxn id="261" idx="2"/>
            <a:endCxn id="264" idx="0"/>
          </p:cNvCxnSpPr>
          <p:nvPr/>
        </p:nvCxnSpPr>
        <p:spPr>
          <a:xfrm>
            <a:off x="4163750" y="2848444"/>
            <a:ext cx="0" cy="574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67" name="Google Shape;267;g3f560cde4dd_1_345"/>
          <p:cNvSpPr/>
          <p:nvPr/>
        </p:nvSpPr>
        <p:spPr>
          <a:xfrm>
            <a:off x="2884400" y="4775744"/>
            <a:ext cx="2558700" cy="778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8" name="Google Shape;268;g3f560cde4dd_1_345"/>
          <p:cNvSpPr txBox="1"/>
          <p:nvPr/>
        </p:nvSpPr>
        <p:spPr>
          <a:xfrm>
            <a:off x="3014449" y="4881944"/>
            <a:ext cx="2298600" cy="5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tpch → Iceberg (Parquet)</a:t>
            </a:r>
            <a:endParaRPr sz="18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69" name="Google Shape;269;g3f560cde4dd_1_345"/>
          <p:cNvCxnSpPr>
            <a:endCxn id="267" idx="0"/>
          </p:cNvCxnSpPr>
          <p:nvPr/>
        </p:nvCxnSpPr>
        <p:spPr>
          <a:xfrm>
            <a:off x="4163750" y="4201244"/>
            <a:ext cx="0" cy="574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0" name="Google Shape;270;g3f560cde4dd_1_345"/>
          <p:cNvSpPr txBox="1"/>
          <p:nvPr/>
        </p:nvSpPr>
        <p:spPr>
          <a:xfrm>
            <a:off x="6130317" y="2386744"/>
            <a:ext cx="274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Шаг 2</a:t>
            </a:r>
            <a:endParaRPr sz="24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1" name="Google Shape;271;g3f560cde4dd_1_345"/>
          <p:cNvSpPr/>
          <p:nvPr/>
        </p:nvSpPr>
        <p:spPr>
          <a:xfrm>
            <a:off x="6222567" y="3422994"/>
            <a:ext cx="2558700" cy="778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2" name="Google Shape;272;g3f560cde4dd_1_345"/>
          <p:cNvSpPr txBox="1"/>
          <p:nvPr/>
        </p:nvSpPr>
        <p:spPr>
          <a:xfrm>
            <a:off x="6352616" y="3529194"/>
            <a:ext cx="2298600" cy="5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Прогон: 1 поток (baseline)</a:t>
            </a:r>
            <a:endParaRPr sz="1800" b="0" i="0" u="none" strike="noStrike" cap="non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73" name="Google Shape;273;g3f560cde4dd_1_345"/>
          <p:cNvCxnSpPr>
            <a:stCxn id="270" idx="2"/>
            <a:endCxn id="271" idx="0"/>
          </p:cNvCxnSpPr>
          <p:nvPr/>
        </p:nvCxnSpPr>
        <p:spPr>
          <a:xfrm>
            <a:off x="7501917" y="2848444"/>
            <a:ext cx="0" cy="574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4" name="Google Shape;274;g3f560cde4dd_1_345"/>
          <p:cNvSpPr/>
          <p:nvPr/>
        </p:nvSpPr>
        <p:spPr>
          <a:xfrm>
            <a:off x="6222567" y="4775744"/>
            <a:ext cx="2558700" cy="778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5" name="Google Shape;275;g3f560cde4dd_1_345"/>
          <p:cNvSpPr txBox="1"/>
          <p:nvPr/>
        </p:nvSpPr>
        <p:spPr>
          <a:xfrm>
            <a:off x="6352616" y="4881944"/>
            <a:ext cx="2298600" cy="5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22 запроса, время каждого</a:t>
            </a:r>
            <a:endParaRPr sz="18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76" name="Google Shape;276;g3f560cde4dd_1_345"/>
          <p:cNvCxnSpPr>
            <a:endCxn id="274" idx="0"/>
          </p:cNvCxnSpPr>
          <p:nvPr/>
        </p:nvCxnSpPr>
        <p:spPr>
          <a:xfrm>
            <a:off x="7501917" y="4201244"/>
            <a:ext cx="0" cy="574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7" name="Google Shape;277;g3f560cde4dd_1_345"/>
          <p:cNvSpPr txBox="1"/>
          <p:nvPr/>
        </p:nvSpPr>
        <p:spPr>
          <a:xfrm>
            <a:off x="9376437" y="2386744"/>
            <a:ext cx="2743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Шаг 3</a:t>
            </a:r>
            <a:endParaRPr sz="24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78" name="Google Shape;278;g3f560cde4dd_1_345"/>
          <p:cNvSpPr/>
          <p:nvPr/>
        </p:nvSpPr>
        <p:spPr>
          <a:xfrm>
            <a:off x="10638385" y="2103103"/>
            <a:ext cx="219300" cy="21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35700" tIns="35700" rIns="35700" bIns="3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f560cde4dd_1_345"/>
          <p:cNvSpPr/>
          <p:nvPr/>
        </p:nvSpPr>
        <p:spPr>
          <a:xfrm>
            <a:off x="9468687" y="3422994"/>
            <a:ext cx="2558700" cy="778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80" name="Google Shape;280;g3f560cde4dd_1_345"/>
          <p:cNvSpPr txBox="1"/>
          <p:nvPr/>
        </p:nvSpPr>
        <p:spPr>
          <a:xfrm>
            <a:off x="9598736" y="3529194"/>
            <a:ext cx="2298600" cy="5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Конкуренция ×10</a:t>
            </a:r>
            <a:endParaRPr sz="1800" b="0" i="0" u="none" strike="noStrike" cap="non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81" name="Google Shape;281;g3f560cde4dd_1_345"/>
          <p:cNvCxnSpPr>
            <a:stCxn id="270" idx="2"/>
            <a:endCxn id="271" idx="0"/>
          </p:cNvCxnSpPr>
          <p:nvPr/>
        </p:nvCxnSpPr>
        <p:spPr>
          <a:xfrm>
            <a:off x="7501917" y="2848444"/>
            <a:ext cx="0" cy="574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82" name="Google Shape;282;g3f560cde4dd_1_345"/>
          <p:cNvSpPr/>
          <p:nvPr/>
        </p:nvSpPr>
        <p:spPr>
          <a:xfrm>
            <a:off x="9468687" y="4775744"/>
            <a:ext cx="2558700" cy="778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83" name="Google Shape;283;g3f560cde4dd_1_345"/>
          <p:cNvSpPr txBox="1"/>
          <p:nvPr/>
        </p:nvSpPr>
        <p:spPr>
          <a:xfrm>
            <a:off x="9598736" y="4881944"/>
            <a:ext cx="2298600" cy="5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throughput + латентность</a:t>
            </a:r>
            <a:endParaRPr sz="18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284" name="Google Shape;284;g3f560cde4dd_1_345"/>
          <p:cNvCxnSpPr>
            <a:endCxn id="274" idx="0"/>
          </p:cNvCxnSpPr>
          <p:nvPr/>
        </p:nvCxnSpPr>
        <p:spPr>
          <a:xfrm>
            <a:off x="7501917" y="4201244"/>
            <a:ext cx="0" cy="574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560cde4dd_1_444"/>
          <p:cNvSpPr txBox="1">
            <a:spLocks noGrp="1"/>
          </p:cNvSpPr>
          <p:nvPr>
            <p:ph type="title"/>
          </p:nvPr>
        </p:nvSpPr>
        <p:spPr>
          <a:xfrm>
            <a:off x="677325" y="692150"/>
            <a:ext cx="8584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400"/>
              <a:t>Результаты: 1 поток vs 10 потоков</a:t>
            </a:r>
            <a:endParaRPr/>
          </a:p>
        </p:txBody>
      </p:sp>
      <p:graphicFrame>
        <p:nvGraphicFramePr>
          <p:cNvPr id="290" name="Google Shape;290;g3f560cde4dd_1_444"/>
          <p:cNvGraphicFramePr/>
          <p:nvPr/>
        </p:nvGraphicFramePr>
        <p:xfrm>
          <a:off x="677325" y="1784888"/>
          <a:ext cx="10855900" cy="3822175"/>
        </p:xfrm>
        <a:graphic>
          <a:graphicData uri="http://schemas.openxmlformats.org/drawingml/2006/table">
            <a:tbl>
              <a:tblPr>
                <a:noFill/>
                <a:tableStyleId>{5E200596-CB3D-462E-8C02-C356F2270C2C}</a:tableStyleId>
              </a:tblPr>
              <a:tblGrid>
                <a:gridCol w="237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Метрика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1 поток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10 потоков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×замедл.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Исполнений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22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220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10×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Ошибок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—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Общее время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136 с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2197 с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16×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Throughput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0.16 q/s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0.10 q/s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−38%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Q21 (тяжёлый)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22 с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234 с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10×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Дефицитный ресурс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—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CPU + heap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—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7ecd7c785347988e_1_0"/>
          <p:cNvSpPr txBox="1">
            <a:spLocks noGrp="1"/>
          </p:cNvSpPr>
          <p:nvPr>
            <p:ph type="title"/>
          </p:nvPr>
        </p:nvSpPr>
        <p:spPr>
          <a:xfrm>
            <a:off x="677334" y="692150"/>
            <a:ext cx="5418600" cy="10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2" name="Google Shape;312;h7ecd7c785347988e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334" y="692150"/>
            <a:ext cx="5791266" cy="5791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Macintosh PowerPoint</Application>
  <PresentationFormat>Широкоэкранный</PresentationFormat>
  <Paragraphs>73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Play</vt:lpstr>
      <vt:lpstr>Calibri</vt:lpstr>
      <vt:lpstr>VK New Color</vt:lpstr>
      <vt:lpstr>Лаба 2. TPC-H: 22 запроса на Spark</vt:lpstr>
      <vt:lpstr>План занятия</vt:lpstr>
      <vt:lpstr>Зачем бенчмарк TPC-H</vt:lpstr>
      <vt:lpstr>Стенд лабораторной</vt:lpstr>
      <vt:lpstr>Как проходит занятие</vt:lpstr>
      <vt:lpstr>Результаты: 1 поток vs 10 потоков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Проскурина Татьяна Сергеевна</dc:creator>
  <cp:lastModifiedBy>Krivyakov Aleksandr</cp:lastModifiedBy>
  <cp:revision>1</cp:revision>
  <dcterms:created xsi:type="dcterms:W3CDTF">2020-08-24T10:59:58Z</dcterms:created>
  <dcterms:modified xsi:type="dcterms:W3CDTF">2026-10-03T04:30:47Z</dcterms:modified>
</cp:coreProperties>
</file>